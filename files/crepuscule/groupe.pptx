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Format court : 10 minutes, environ une minute par diapositive. Notez ici qui parle sur chaque diapositive.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Chaque membre annonce sa partie en une phrase ; les transitions se préparent à l’avance.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[Prénom] · ≈ 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[Prénom] · ≈ 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[Prénom] · ≈ 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Nuance" Type="http://schemas.openxmlformats.org/officeDocument/2006/relationships/image" Target="../media/crepuscule-slide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Nuance" Type="http://schemas.openxmlformats.org/officeDocument/2006/relationships/image" Target="../media/crepuscule-slide.jp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Nuance" Type="http://schemas.openxmlformats.org/officeDocument/2006/relationships/image" Target="../media/crepuscule-slide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re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présentation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date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section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" hasCustomPrompt="1"/>
          </p:nvPr>
        </p:nvSpPr>
        <p:spPr>
          <a:xfrm>
            <a:off x="762000" y="51943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 hasCustomPrompt="1"/>
          </p:nvPr>
        </p:nvSpPr>
        <p:spPr>
          <a:xfrm>
            <a:off x="762000" y="762000"/>
            <a:ext cx="9525000" cy="533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1" spc="-10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Une phrase forte, seule sur la diapositive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  <a:p>
            <a:pPr lvl="1"/>
            <a:r>
              <a:rPr lang="fr-CH" dirty="0"/>
              <a:t>Deuxième niveau : liste à puces (Tab)</a:t>
            </a:r>
          </a:p>
          <a:p>
            <a:pPr lvl="2"/>
            <a:r>
              <a:rPr lang="fr-CH" dirty="0"/>
              <a:t>Troisième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 lef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  <p:sp>
        <p:nvSpPr>
          <p:cNvPr id="5" name="Content right"/>
          <p:cNvSpPr>
            <a:spLocks noGrp="1"/>
          </p:cNvSpPr>
          <p:nvPr>
            <p:ph idx="2" hasCustomPrompt="1"/>
          </p:nvPr>
        </p:nvSpPr>
        <p:spPr>
          <a:xfrm>
            <a:off x="62992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Points"/>
          <p:cNvSpPr>
            <a:spLocks noGrp="1"/>
          </p:cNvSpPr>
          <p:nvPr>
            <p:ph type="body" idx="1" hasCustomPrompt="1"/>
          </p:nvPr>
        </p:nvSpPr>
        <p:spPr>
          <a:xfrm>
            <a:off x="762000" y="2159000"/>
            <a:ext cx="10668000" cy="3937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fr-CH" dirty="0"/>
              <a:t>Point clé</a:t>
            </a:r>
          </a:p>
          <a:p>
            <a:pPr lvl="1"/>
            <a:r>
              <a:rPr lang="fr-CH" dirty="0"/>
              <a:t>Explication en une phrase (Entrée, puis Tab)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2000" y="2095500"/>
            <a:ext cx="10668000" cy="25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mesure le chiffre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3" hasCustomPrompt="1"/>
          </p:nvPr>
        </p:nvSpPr>
        <p:spPr>
          <a:xfrm>
            <a:off x="762000" y="2413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00 %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14" hasCustomPrompt="1"/>
          </p:nvPr>
        </p:nvSpPr>
        <p:spPr>
          <a:xfrm>
            <a:off x="762000" y="37465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ce chiffre signifie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it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hasCustomPrompt="1"/>
          </p:nvPr>
        </p:nvSpPr>
        <p:spPr>
          <a:xfrm>
            <a:off x="533400" y="1016000"/>
            <a:ext cx="9753600" cy="3302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spc="-14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« Citation »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idx="1" hasCustomPrompt="1"/>
          </p:nvPr>
        </p:nvSpPr>
        <p:spPr>
          <a:xfrm>
            <a:off x="762000" y="4572000"/>
            <a:ext cx="952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Auteur, source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  <p:sp>
        <p:nvSpPr>
          <p:cNvPr id="3" name="Caption"/>
          <p:cNvSpPr>
            <a:spLocks noGrp="1"/>
          </p:cNvSpPr>
          <p:nvPr>
            <p:ph type="title" hasCustomPrompt="1"/>
          </p:nvPr>
        </p:nvSpPr>
        <p:spPr>
          <a:xfrm>
            <a:off x="762000" y="5308600"/>
            <a:ext cx="6985000" cy="787400"/>
          </a:xfrm>
          <a:prstGeom prst="roundRect">
            <a:avLst>
              <a:gd name="adj" fmla="val 27000"/>
            </a:avLst>
          </a:prstGeom>
          <a:solidFill>
            <a:schemeClr val="bg1">
              <a:alpha val="84000"/>
            </a:schemeClr>
          </a:solidFill>
        </p:spPr>
        <p:txBody>
          <a:bodyPr vert="horz" wrap="square" lIns="203200" tIns="127000" rIns="203200" bIns="127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de l’image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50292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5029200" cy="1587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762000" y="2794000"/>
            <a:ext cx="5029200" cy="3302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 d’accompagnement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2" hasCustomPrompt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cxnSp>
        <p:nvCxnSpPr>
          <p:cNvPr id="4" name="Rule 1"/>
          <p:cNvCxnSpPr/>
          <p:nvPr userDrawn="1"/>
        </p:nvCxnSpPr>
        <p:spPr>
          <a:xfrm>
            <a:off x="7620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5" name="Label 1"/>
          <p:cNvSpPr>
            <a:spLocks noGrp="1"/>
          </p:cNvSpPr>
          <p:nvPr>
            <p:ph type="body" idx="14" hasCustomPrompt="1"/>
          </p:nvPr>
        </p:nvSpPr>
        <p:spPr>
          <a:xfrm>
            <a:off x="7620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Avant</a:t>
            </a:r>
          </a:p>
        </p:txBody>
      </p:sp>
      <p:sp>
        <p:nvSpPr>
          <p:cNvPr id="6" name="Column 1"/>
          <p:cNvSpPr>
            <a:spLocks noGrp="1"/>
          </p:cNvSpPr>
          <p:nvPr>
            <p:ph type="body" idx="15" hasCustomPrompt="1"/>
          </p:nvPr>
        </p:nvSpPr>
        <p:spPr>
          <a:xfrm>
            <a:off x="7620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  <p:cxnSp>
        <p:nvCxnSpPr>
          <p:cNvPr id="7" name="Rule 2"/>
          <p:cNvCxnSpPr/>
          <p:nvPr userDrawn="1"/>
        </p:nvCxnSpPr>
        <p:spPr>
          <a:xfrm>
            <a:off x="62992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8" name="Label 2"/>
          <p:cNvSpPr>
            <a:spLocks noGrp="1"/>
          </p:cNvSpPr>
          <p:nvPr>
            <p:ph type="body" idx="16" hasCustomPrompt="1"/>
          </p:nvPr>
        </p:nvSpPr>
        <p:spPr>
          <a:xfrm>
            <a:off x="62992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Après</a:t>
            </a:r>
          </a:p>
        </p:txBody>
      </p:sp>
      <p:sp>
        <p:nvSpPr>
          <p:cNvPr id="9" name="Column 2"/>
          <p:cNvSpPr>
            <a:spLocks noGrp="1"/>
          </p:cNvSpPr>
          <p:nvPr>
            <p:ph type="body" idx="17" hasCustomPrompt="1"/>
          </p:nvPr>
        </p:nvSpPr>
        <p:spPr>
          <a:xfrm>
            <a:off x="62992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" hasCustomPrompt="1"/>
          </p:nvPr>
        </p:nvSpPr>
        <p:spPr>
          <a:xfrm>
            <a:off x="762000" y="2413000"/>
            <a:ext cx="10668000" cy="3302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insérer un graphique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de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302000"/>
          </a:xfrm>
          <a:prstGeom prst="roundRect">
            <a:avLst>
              <a:gd name="adj" fmla="val 4800"/>
            </a:avLst>
          </a:prstGeom>
          <a:solidFill>
            <a:schemeClr val="bg2"/>
          </a:solidFill>
        </p:spPr>
        <p:txBody>
          <a:bodyPr vert="horz" wrap="square" lIns="304800" tIns="254000" rIns="304800" bIns="254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1"/>
                </a:solidFill>
                <a:latin typeface="Consolas"/>
                <a:ea typeface="+mn-ea"/>
                <a:cs typeface="+mn-cs"/>
              </a:defRPr>
            </a:lvl1pPr>
          </a:lstStyle>
          <a:p>
            <a:r>
              <a:rPr lang="fr-CH" dirty="0"/>
              <a:t>code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du code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References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54000" indent="-2540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Nom, P. (année). Titre. Éditeur.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Fi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e-mail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Présentation · [cours]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[Le sujet en une phrase]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[Ce que le public saura à la fin]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Nom], [Prénom Nom], [Prénom Nom]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Qui présente quoi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Le déroulé en trois parties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[Partie 1] · [Prénom]</a:t>
            </a:r>
          </a:p>
          <a:p>
            <a:pPr lvl="1"/>
            <a:r>
              <a:rPr lang="fr-CH"/>
              <a:t>[Ce que couvre cette partie, ≈ 3 min]</a:t>
            </a:r>
          </a:p>
          <a:p>
            <a:pPr/>
            <a:r>
              <a:rPr lang="fr-CH"/>
              <a:t>[Partie 2] · [Prénom]</a:t>
            </a:r>
          </a:p>
          <a:p>
            <a:pPr lvl="1"/>
            <a:r>
              <a:rPr lang="fr-CH"/>
              <a:t>[Ce que couvre cette partie, ≈ 3 min]</a:t>
            </a:r>
          </a:p>
          <a:p>
            <a:pPr/>
            <a:r>
              <a:rPr lang="fr-CH"/>
              <a:t>[Partie 3] · [Prénom]</a:t>
            </a:r>
          </a:p>
          <a:p>
            <a:pPr lvl="1"/>
            <a:r>
              <a:rPr lang="fr-CH"/>
              <a:t>[Ce que couvre cette partie, ≈ 3 min]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[La question à laquelle la présentation répond.]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Partie 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[Le contexte, ce qu’il faut savoir]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[Deux ou trois phrases ; l’image illustre, le texte explique.]</a:t>
            </a:r>
          </a:p>
        </p:txBody>
      </p:sp>
      <p:pic>
        <p:nvPicPr>
          <p:cNvPr id="5" name="Picture Placeholder 4" descr="Emplacement d’image"/>
          <p:cNvPicPr>
            <a:picLocks noGrp="1" noChangeAspect="1"/>
          </p:cNvPicPr>
          <p:nvPr>
            <p:ph type="pic" idx="2"/>
          </p:nvPr>
        </p:nvPicPr>
        <p:blipFill>
          <a:blip r:embed="rId3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Partie 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[Trois idées au plus]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[Idée 1]</a:t>
            </a:r>
          </a:p>
          <a:p>
            <a:pPr lvl="1"/>
            <a:r>
              <a:rPr lang="fr-CH"/>
              <a:t>[Explication en une phrase]</a:t>
            </a:r>
          </a:p>
          <a:p>
            <a:pPr/>
            <a:r>
              <a:rPr lang="fr-CH"/>
              <a:t>[Idée 2]</a:t>
            </a:r>
          </a:p>
          <a:p>
            <a:pPr lvl="1"/>
            <a:r>
              <a:rPr lang="fr-CH"/>
              <a:t>[Explication en une phrase]</a:t>
            </a:r>
          </a:p>
          <a:p>
            <a:pPr/>
            <a:r>
              <a:rPr lang="fr-CH"/>
              <a:t>[Idée 3]</a:t>
            </a:r>
          </a:p>
          <a:p>
            <a:pPr lvl="1"/>
            <a:r>
              <a:rPr lang="fr-CH"/>
              <a:t>[Explication en une phrase]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[Ce que mesure le chiffre]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00 %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[Ce que ce chiffre montre, en une phrase]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[auteur, année]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Partie 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[Deux points de vue, ou avant et après]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[Côté A]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[Argument]</a:t>
            </a:r>
          </a:p>
          <a:p>
            <a:pPr/>
            <a:r>
              <a:rPr lang="fr-CH"/>
              <a:t>[Argument]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rPr lang="fr-CH"/>
              <a:t>[Côté B]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pPr/>
            <a:r>
              <a:rPr lang="fr-CH"/>
              <a:t>[Argument]</a:t>
            </a:r>
          </a:p>
          <a:p>
            <a:pPr/>
            <a:r>
              <a:rPr lang="fr-CH"/>
              <a:t>[Argument]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[À retenir : la réponse à la question, en une phrase.]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Sources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Références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[Nom, P. (année). Titre. Éditeur.]</a:t>
            </a:r>
          </a:p>
          <a:p>
            <a:pPr/>
            <a:r>
              <a:rPr lang="fr-CH"/>
              <a:t>[Organisation. (année). Titre de la page. URL]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Questions ?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Merci de votre attention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Nom], [Prénom Nom], [Prénom Nom]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Crépuscule">
  <a:themeElements>
    <a:clrScheme name="Halo Crépuscul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3A1D6E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3A1D6E"/>
      </a:hlink>
      <a:folHlink>
        <a:srgbClr val="5747E7"/>
      </a:folHlink>
    </a:clrScheme>
    <a:fontScheme name="Halo Crépuscul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Crépuscul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Crépuscule">
  <a:themeElements>
    <a:clrScheme name="Halo Crépuscul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3A1D6E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3A1D6E"/>
      </a:hlink>
      <a:folHlink>
        <a:srgbClr val="5747E7"/>
      </a:folHlink>
    </a:clrScheme>
    <a:fontScheme name="Halo Crépuscul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Crépuscul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