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Prévu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80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Réalisé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44</c:v>
                </c:pt>
                <c:pt idx="1">
                  <c:v>26</c:v>
                </c:pt>
                <c:pt idx="2">
                  <c:v>52</c:v>
                </c:pt>
                <c:pt idx="3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Statut : vert = dans les temps, orange = à surveiller, rouge = en retard. Changez la couleur du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crepuscul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crepuscul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crepuscul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Suivi de projet · [Projet]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Point d’avancement n° [x]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[Période couverte]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Avancement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65 %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Mise à jour : [date] · déplacez la barre pour refléter l’avancement</a:t>
            </a:r>
          </a:p>
        </p:txBody>
      </p:sp>
      <p:sp>
        <p:nvSpPr>
          <p:cNvPr id="6" name="Progress track"/>
          <p:cNvSpPr/>
          <p:nvPr/>
        </p:nvSpPr>
        <p:spPr>
          <a:xfrm>
            <a:off x="762000" y="3873500"/>
            <a:ext cx="8255000" cy="1016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gress"/>
          <p:cNvSpPr/>
          <p:nvPr/>
        </p:nvSpPr>
        <p:spPr>
          <a:xfrm>
            <a:off x="762000" y="3873500"/>
            <a:ext cx="5365750" cy="10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us"/>
          <p:cNvSpPr/>
          <p:nvPr/>
        </p:nvSpPr>
        <p:spPr>
          <a:xfrm>
            <a:off x="762000" y="4311650"/>
            <a:ext cx="127000" cy="1270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us label"/>
          <p:cNvSpPr txBox="1"/>
          <p:nvPr/>
        </p:nvSpPr>
        <p:spPr>
          <a:xfrm>
            <a:off x="977900" y="4254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 lang="fr-CH"/>
              <a:t>Dans les temps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Depuis le dernier point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Faits marquants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Réalisé</a:t>
            </a:r>
          </a:p>
          <a:p>
            <a:pPr lvl="1"/>
            <a:r>
              <a:rPr lang="fr-CH"/>
              <a:t>[Livrables terminés]</a:t>
            </a:r>
          </a:p>
          <a:p>
            <a:pPr/>
            <a:r>
              <a:rPr lang="fr-CH"/>
              <a:t>En cours</a:t>
            </a:r>
          </a:p>
          <a:p>
            <a:pPr lvl="1"/>
            <a:r>
              <a:rPr lang="fr-CH"/>
              <a:t>[Travaux en cours et échéance]</a:t>
            </a:r>
          </a:p>
          <a:p>
            <a:pPr/>
            <a:r>
              <a:rPr lang="fr-CH"/>
              <a:t>Bloqué</a:t>
            </a:r>
          </a:p>
          <a:p>
            <a:pPr lvl="1"/>
            <a:r>
              <a:rPr lang="fr-CH"/>
              <a:t>[Obstacle et aide nécessaire]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Jalons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445000"/>
                <a:gridCol w="1778000"/>
                <a:gridCol w="1778000"/>
                <a:gridCol w="2667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Jalon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Prévu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Prévision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Statut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[Cahier des charges]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AEAEB2"/>
                          </a:solidFill>
                        </a:rPr>
                        <a:t>●  </a:t>
                      </a:r>
                      <a:r>
                        <a:rPr sz="1600" lang="fr-CH"/>
                        <a:t>Terminé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[Prototype]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Dans les temps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[Tests]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À surveiller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[Livraison]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En retard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Charge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Heures prévues et réalisées par phase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[journal des heures]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Risques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Risques et mesures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16256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3556000"/>
                <a:gridCol w="1905000"/>
                <a:gridCol w="1905000"/>
                <a:gridCol w="3302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Risque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Probabilité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Impact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Mesure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1]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2]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Moyenne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3]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Faible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À décider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Décisions attendues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[Décision 1]</a:t>
            </a:r>
          </a:p>
          <a:p>
            <a:pPr lvl="1"/>
            <a:r>
              <a:rPr lang="fr-CH"/>
              <a:t>[Options et recommandation]</a:t>
            </a:r>
          </a:p>
          <a:p>
            <a:pPr/>
            <a:r>
              <a:rPr lang="fr-CH"/>
              <a:t>[Décision 2]</a:t>
            </a:r>
          </a:p>
          <a:p>
            <a:pPr lvl="1"/>
            <a:r>
              <a:rPr lang="fr-CH"/>
              <a:t>[Avant quelle date]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Prochaines étapes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D’ici au prochain point :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et décisions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Prochain point : [date]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Crépuscule">
  <a:themeElements>
    <a:clrScheme name="Halo Crépuscul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A1D6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A1D6E"/>
      </a:hlink>
      <a:folHlink>
        <a:srgbClr val="5747E7"/>
      </a:folHlink>
    </a:clrScheme>
    <a:fontScheme name="Halo Crépuscul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répuscul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Crépuscule">
  <a:themeElements>
    <a:clrScheme name="Halo Crépuscul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A1D6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A1D6E"/>
      </a:hlink>
      <a:folHlink>
        <a:srgbClr val="5747E7"/>
      </a:folHlink>
    </a:clrScheme>
    <a:fontScheme name="Halo Crépuscul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répuscul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