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Heures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Sheet1!$A$2:$A$6</c:f>
              <c:strCache>
                <c:ptCount val="5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  <c:pt idx="4">
                  <c:v>Documentation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40</c:v>
                </c:pt>
                <c:pt idx="1">
                  <c:v>32</c:v>
                </c:pt>
                <c:pt idx="2">
                  <c:v>85</c:v>
                </c:pt>
                <c:pt idx="3">
                  <c:v>28</c:v>
                </c:pt>
                <c:pt idx="4">
                  <c:v>20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5.0"/>
      </c:valAx>
    </c:plotArea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Accueil → Nouvelle diapositive : choisissez une mise en page. Titre, sections et fin portent la nuance, le reste est sur fond clair. Pour changer de nuance : Création → Thèmes → Halo Prune, Halo Forêt…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Clic droit sur l’image → Changer l’image.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glacier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glacier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glacier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Halo · Modèle de présentation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Une idée par diapositive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Chaque mise en page du modèle, prête à dupliquer.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Les mises en page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Dix-sept cadres sur une seule grille.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phrase forte, seule, se retient mieux qu’une liste.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Titre et contenu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Le premier niveau est un paragraphe sans puce : une idée, une phrase.</a:t>
            </a:r>
          </a:p>
          <a:p>
            <a:pPr lvl="1"/>
            <a:r>
              <a:rPr lang="fr-CH"/>
              <a:t>Touche Tab : une puce de deuxième niveau</a:t>
            </a:r>
          </a:p>
          <a:p>
            <a:pPr lvl="1"/>
            <a:r>
              <a:rPr lang="fr-CH"/>
              <a:t>Maj + Tab : retour au paragraphe</a:t>
            </a:r>
          </a:p>
          <a:p>
            <a:pPr/>
            <a:r>
              <a:rPr lang="fr-CH"/>
              <a:t>Le cadre accepte aussi un tableau, un graphique ou une image.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contenus côte à côte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À gauche, le texte qui explique.</a:t>
            </a:r>
          </a:p>
          <a:p>
            <a:pPr lvl="1"/>
            <a:r>
              <a:rPr lang="fr-CH"/>
              <a:t>une puce</a:t>
            </a:r>
          </a:p>
          <a:p>
            <a:pPr lvl="1"/>
            <a:r>
              <a:rPr lang="fr-CH"/>
              <a:t>une autre puce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pPr/>
            <a:r>
              <a:rPr lang="fr-CH"/>
              <a:t>À droite, ce qui le prouve : un tableau, un graphique ou une image.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Trois points au plus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Un titre court par point</a:t>
            </a:r>
          </a:p>
          <a:p>
            <a:pPr lvl="1"/>
            <a:r>
              <a:rPr lang="fr-CH"/>
              <a:t>Entrée, puis Tab : la ligne d’explication passe en gris.</a:t>
            </a:r>
          </a:p>
          <a:p>
            <a:pPr/>
            <a:r>
              <a:rPr lang="fr-CH"/>
              <a:t>Du poids et de l’espace</a:t>
            </a:r>
          </a:p>
          <a:p>
            <a:pPr lvl="1"/>
            <a:r>
              <a:rPr lang="fr-CH"/>
              <a:t>Pas de puces : la graisse et l’espacement suffisent.</a:t>
            </a:r>
          </a:p>
          <a:p>
            <a:pPr/>
            <a:r>
              <a:rPr lang="fr-CH"/>
              <a:t>Trois au maximum</a:t>
            </a:r>
          </a:p>
          <a:p>
            <a:pPr lvl="1"/>
            <a:r>
              <a:rPr lang="fr-CH"/>
              <a:t>Au-delà, découpez en deux diapositives.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Chiffre clé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1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chiffre par diapositive, assez grand pour être lu du fond de la salle.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[référence de la donnée]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« [Une citation courte, exacte et sourcée.] »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[Auteur], [source], [année]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Emplacement d’image"/>
          <p:cNvPicPr>
            <a:picLocks noGrp="1" noChangeAspect="1"/>
          </p:cNvPicPr>
          <p:nvPr>
            <p:ph type="pic" idx="1"/>
          </p:nvPr>
        </p:nvPicPr>
        <p:blipFill>
          <a:blip r:embed="rId3"/>
          <a:srcRect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Une image plein cadre, une légende courte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Texte et image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texte à gauche, l’image jusqu’au bord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Clic droit → Changer l’image pour la remplacer ; le cadrage s’adapte.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2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Comparaison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Deux colonnes de même poids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Avant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[Situation de départ]</a:t>
            </a:r>
          </a:p>
          <a:p>
            <a:pPr/>
            <a:r>
              <a:rPr lang="fr-CH"/>
              <a:t>[Problème]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Après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[Situation visée]</a:t>
            </a:r>
          </a:p>
          <a:p>
            <a:pPr/>
            <a:r>
              <a:rPr lang="fr-CH"/>
              <a:t>[Bénéfice]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Graphique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titre dit ce que montre le graphique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[données du projet] · clic droit → Modifier les données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Code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extrait court, lisible du fond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def partager(depenses, membres):</a:t>
            </a:r>
          </a:p>
          <a:p>
            <a:pPr/>
            <a:r>
              <a:rPr lang="fr-CH"/>
              <a:t>    total = sum(d.montant for d in depenses)</a:t>
            </a:r>
          </a:p>
          <a:p>
            <a:pPr/>
            <a:r>
              <a:rPr lang="fr-CH"/>
              <a:t>    part = total / len(membres)</a:t>
            </a:r>
          </a:p>
          <a:p>
            <a:pPr/>
            <a:r>
              <a:rPr lang="fr-CH"/>
              <a:t>    return {m: m.paye - part for m in membres}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Extrait de [fichier] · quinze lignes au plus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</a:t>
            </a:r>
            <a:r>
              <a:rPr i="1" lang="fr-CH"/>
              <a:t>Titre de l’ouvrage</a:t>
            </a:r>
            <a:r>
              <a:rPr lang="fr-CH"/>
              <a:t>. Éditeur.]</a:t>
            </a:r>
          </a:p>
          <a:p>
            <a:pPr/>
            <a:r>
              <a:rPr lang="fr-CH"/>
              <a:t>[Nom, P. et Nom, P. (Année). Titre de l’article. </a:t>
            </a:r>
            <a:r>
              <a:rPr i="1" lang="fr-CH"/>
              <a:t>Revue</a:t>
            </a:r>
            <a:r>
              <a:rPr lang="fr-CH"/>
              <a:t>, </a:t>
            </a:r>
            <a:r>
              <a:rPr i="1" lang="fr-CH"/>
              <a:t>volume</a:t>
            </a:r>
            <a:r>
              <a:rPr lang="fr-CH"/>
              <a:t>(numéro), pages.]</a:t>
            </a:r>
          </a:p>
          <a:p>
            <a:pPr/>
            <a:r>
              <a:rPr lang="fr-CH"/>
              <a:t>[Organisation. (Année). </a:t>
            </a:r>
            <a:r>
              <a:rPr i="1" lang="fr-CH"/>
              <a:t>Titre de la page</a:t>
            </a:r>
            <a:r>
              <a:rPr lang="fr-CH"/>
              <a:t>. URL]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Tableau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Un tableau sobre : en-tête, filets, chiffres alignés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953000"/>
                <a:gridCol w="1905000"/>
                <a:gridCol w="1905000"/>
                <a:gridCol w="1905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Phase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Début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Fin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b="1" lang="fr-CH"/>
                        <a:t>Heures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Analyse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40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Conception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32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Réalisation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85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Tests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600" lang="fr-CH"/>
                        <a:t>28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Merci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Glacier">
  <a:themeElements>
    <a:clrScheme name="Halo Glacier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B5C8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B5C86"/>
      </a:hlink>
      <a:folHlink>
        <a:srgbClr val="5747E7"/>
      </a:folHlink>
    </a:clrScheme>
    <a:fontScheme name="Halo Glacier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Glacier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Glacier">
  <a:themeElements>
    <a:clrScheme name="Halo Glacier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B5C8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B5C86"/>
      </a:hlink>
      <a:folHlink>
        <a:srgbClr val="5747E7"/>
      </a:folHlink>
    </a:clrScheme>
    <a:fontScheme name="Halo Glacier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Glacier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