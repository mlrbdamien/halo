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/>
  <p:notesSz cx="6858000" cy="9144000"/>
  <p:defaultTextStyle>
    <a:defPPr>
      <a:defRPr lang="fr-CH"/>
    </a:defPPr>
    <a:lvl1pPr marL="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 rtl="0" eaLnBrk="1" latinLnBrk="0" hangingPunct="1">
      <a:lnSpc>
        <a:spcPct val="100000"/>
      </a:lnSpc>
      <a:spcBef>
        <a:spcPts val="0"/>
      </a:spcBef>
      <a:spcAft>
        <a:spcPts val="0"/>
      </a:spcAft>
      <a:buNone/>
      <a:defRPr sz="1800" b="0" kern="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6F3A2C1E-8B1D-4F7A-9C55-0A1B2C3D4E5F}">
  <a:tblStyle styleId="{6F3A2C1E-8B1D-4F7A-9C55-0A1B2C3D4E5F}" styleName="Halo">
    <a:wholeTbl>
      <a:tcTxStyle>
        <a:fontRef idx="minor">
          <a:prstClr val="black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 w="9525" cmpd="sng">
              <a:solidFill>
                <a:srgbClr val="C6C6C8"/>
              </a:solidFill>
            </a:ln>
          </a:bottom>
          <a:insideH>
            <a:ln w="9525" cmpd="sng">
              <a:solidFill>
                <a:srgbClr val="C6C6C8"/>
              </a:solidFill>
            </a:ln>
          </a:insideH>
          <a:insideV>
            <a:ln>
              <a:noFill/>
            </a:ln>
          </a:insideV>
        </a:tcBdr>
        <a:fill>
          <a:noFill/>
        </a:fill>
      </a:tcStyle>
    </a:wholeTbl>
    <a:firstRow>
      <a:tcTxStyle b="on">
        <a:fontRef idx="minor">
          <a:prstClr val="black"/>
        </a:fontRef>
        <a:schemeClr val="tx1"/>
      </a:tcTxStyle>
      <a:tcStyle>
        <a:tcBdr>
          <a:bottom>
            <a:ln w="1905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Prévu</c:v>
                </c:pt>
              </c:strCache>
            </c:strRef>
          </c:tx>
          <c:spPr>
            <a:solidFill>
              <a:srgbClr val="AEAEB2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Sheet1!$B$2:$B$5</c:f>
              <c:numCache>
                <c:formatCode>0</c:formatCode>
                <c:ptCount val="4"/>
                <c:pt idx="0">
                  <c:v>40</c:v>
                </c:pt>
                <c:pt idx="1">
                  <c:v>30</c:v>
                </c:pt>
                <c:pt idx="2">
                  <c:v>80</c:v>
                </c:pt>
                <c:pt idx="3">
                  <c:v>30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Réalisé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</c:spPr>
          <c:invertIfNegative val="0"/>
          <c:cat>
            <c:strRef>
              <c:f>Sheet1!$A$2:$A$5</c:f>
              <c:strCache>
                <c:ptCount val="4"/>
                <c:pt idx="0">
                  <c:v>Analyse</c:v>
                </c:pt>
                <c:pt idx="1">
                  <c:v>Conception</c:v>
                </c:pt>
                <c:pt idx="2">
                  <c:v>Réalisation</c:v>
                </c:pt>
                <c:pt idx="3">
                  <c:v>Tests</c:v>
                </c:pt>
              </c:strCache>
            </c:strRef>
          </c:cat>
          <c:val>
            <c:numRef>
              <c:f>Sheet1!$C$2:$C$5</c:f>
              <c:numCache>
                <c:formatCode>0</c:formatCode>
                <c:ptCount val="4"/>
                <c:pt idx="0">
                  <c:v>44</c:v>
                </c:pt>
                <c:pt idx="1">
                  <c:v>26</c:v>
                </c:pt>
                <c:pt idx="2">
                  <c:v>52</c:v>
                </c:pt>
                <c:pt idx="3">
                  <c:v>6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sz="1400">
                  <a:solidFill>
                    <a:srgbClr val="1D1D1F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8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>
            <a:solidFill>
              <a:srgbClr val="C6C6C8"/>
            </a:solidFill>
          </a:ln>
        </c:spPr>
        <c:txPr>
          <a:bodyPr/>
          <a:lstStyle/>
          <a:p>
            <a:pPr>
              <a:defRPr sz="1400">
                <a:solidFill>
                  <a:srgbClr val="6C6C7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>
          <c:spPr>
            <a:ln w="9525">
              <a:solidFill>
                <a:srgbClr val="E5E5EA"/>
              </a:solidFill>
            </a:ln>
          </c:spPr>
        </c:majorGridlines>
        <c:numFmt formatCode="0" sourceLinked="0"/>
        <c:majorTickMark val="none"/>
        <c:minorTickMark val="none"/>
        <c:tickLblPos val="none"/>
        <c:spPr>
          <a:ln>
            <a:noFill/>
          </a:ln>
        </c:spPr>
        <c:txPr>
          <a:bodyPr/>
          <a:lstStyle/>
          <a:p>
            <a:pPr>
              <a:defRPr sz="1200">
                <a:solidFill>
                  <a:srgbClr val="6C6C70"/>
                </a:solidFill>
              </a:defRPr>
            </a:pPr>
          </a:p>
        </c:txPr>
        <c:crossAx val="-2068027336"/>
        <c:crosses val="autoZero"/>
        <c:majorUnit val="20.0"/>
      </c:valAx>
    </c:plotArea>
    <c:legend>
      <c:legendPos val="t"/>
      <c:overlay val="0"/>
      <c:txPr>
        <a:bodyPr/>
        <a:lstStyle/>
        <a:p>
          <a:pPr>
            <a:defRPr sz="1400">
              <a:solidFill>
                <a:srgbClr val="1D1D1F"/>
              </a:solidFill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6C6C70"/>
          </a:solidFill>
          <a:latin typeface="+mn-lt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Statut : vert = dans les temps, orange = à surveiller, rouge = en retard. Changez la couleur du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Nuance" Type="http://schemas.openxmlformats.org/officeDocument/2006/relationships/image" Target="../media/glacier-slide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showMasterSp="0" preserve="1">
  <p:cSld name="Titre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présentation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date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 preserve="1">
  <p:cSld name="Sectio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hapter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tx1">
                    <a:alpha val="70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01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Titre de la section</a:t>
            </a:r>
          </a:p>
        </p:txBody>
      </p:sp>
      <p:sp>
        <p:nvSpPr>
          <p:cNvPr id="4" name="Subtitle"/>
          <p:cNvSpPr>
            <a:spLocks noGrp="1"/>
          </p:cNvSpPr>
          <p:nvPr>
            <p:ph type="body" idx="1" hasCustomPrompt="1"/>
          </p:nvPr>
        </p:nvSpPr>
        <p:spPr>
          <a:xfrm>
            <a:off x="762000" y="51943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hra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tatement"/>
          <p:cNvSpPr>
            <a:spLocks noGrp="1"/>
          </p:cNvSpPr>
          <p:nvPr>
            <p:ph type="title" hasCustomPrompt="1"/>
          </p:nvPr>
        </p:nvSpPr>
        <p:spPr>
          <a:xfrm>
            <a:off x="762000" y="762000"/>
            <a:ext cx="9525000" cy="5334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5400" b="1" spc="-10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Une phrase forte, seule sur la diapositive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  <a:p>
            <a:pPr lvl="1"/>
            <a:r>
              <a:rPr lang="fr-CH" dirty="0"/>
              <a:t>Deuxième niveau : liste à puces (Tab)</a:t>
            </a:r>
          </a:p>
          <a:p>
            <a:pPr lvl="2"/>
            <a:r>
              <a:rPr lang="fr-CH" dirty="0"/>
              <a:t>Troisième niveau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ntent left"/>
          <p:cNvSpPr>
            <a:spLocks noGrp="1"/>
          </p:cNvSpPr>
          <p:nvPr>
            <p:ph idx="1" hasCustomPrompt="1"/>
          </p:nvPr>
        </p:nvSpPr>
        <p:spPr>
          <a:xfrm>
            <a:off x="7620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  <p:sp>
        <p:nvSpPr>
          <p:cNvPr id="5" name="Content right"/>
          <p:cNvSpPr>
            <a:spLocks noGrp="1"/>
          </p:cNvSpPr>
          <p:nvPr>
            <p:ph idx="2" hasCustomPrompt="1"/>
          </p:nvPr>
        </p:nvSpPr>
        <p:spPr>
          <a:xfrm>
            <a:off x="6299200" y="2413000"/>
            <a:ext cx="51308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Points"/>
          <p:cNvSpPr>
            <a:spLocks noGrp="1"/>
          </p:cNvSpPr>
          <p:nvPr>
            <p:ph type="body" idx="1" hasCustomPrompt="1"/>
          </p:nvPr>
        </p:nvSpPr>
        <p:spPr>
          <a:xfrm>
            <a:off x="762000" y="2159000"/>
            <a:ext cx="10668000" cy="3937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0000"/>
              </a:lnSpc>
              <a:spcBef>
                <a:spcPts val="240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914400" rtl="0" eaLnBrk="1" latinLnBrk="0" hangingPunct="1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</a:lstStyle>
          <a:p>
            <a:r>
              <a:rPr lang="fr-CH" dirty="0"/>
              <a:t>Point clé</a:t>
            </a:r>
          </a:p>
          <a:p>
            <a:pPr lvl="1"/>
            <a:r>
              <a:rPr lang="fr-CH" dirty="0"/>
              <a:t>Explication en une phrase (Entrée, puis Tab)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hiffre cl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 hasCustomPrompt="1"/>
          </p:nvPr>
        </p:nvSpPr>
        <p:spPr>
          <a:xfrm>
            <a:off x="762000" y="2095500"/>
            <a:ext cx="10668000" cy="254000"/>
          </a:xfrm>
          <a:prstGeom prst="rect">
            <a:avLst/>
          </a:prstGeom>
        </p:spPr>
        <p:txBody>
          <a:bodyPr vert="horz" wrap="square" lIns="0" tIns="0" rIns="0" bIns="0" rtlCol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mesure le chiffre</a:t>
            </a:r>
          </a:p>
        </p:txBody>
      </p:sp>
      <p:sp>
        <p:nvSpPr>
          <p:cNvPr id="3" name="Number"/>
          <p:cNvSpPr>
            <a:spLocks noGrp="1"/>
          </p:cNvSpPr>
          <p:nvPr>
            <p:ph type="body" idx="13" hasCustomPrompt="1"/>
          </p:nvPr>
        </p:nvSpPr>
        <p:spPr>
          <a:xfrm>
            <a:off x="762000" y="2413000"/>
            <a:ext cx="10668000" cy="1206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  <a:defRPr sz="8000" b="1" spc="-200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00 %</a:t>
            </a:r>
          </a:p>
        </p:txBody>
      </p:sp>
      <p:sp>
        <p:nvSpPr>
          <p:cNvPr id="4" name="Caption"/>
          <p:cNvSpPr>
            <a:spLocks noGrp="1"/>
          </p:cNvSpPr>
          <p:nvPr>
            <p:ph type="body" idx="14" hasCustomPrompt="1"/>
          </p:nvPr>
        </p:nvSpPr>
        <p:spPr>
          <a:xfrm>
            <a:off x="762000" y="3746500"/>
            <a:ext cx="8255000" cy="698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Ce que ce chiffre signifie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ita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Quote"/>
          <p:cNvSpPr>
            <a:spLocks noGrp="1"/>
          </p:cNvSpPr>
          <p:nvPr>
            <p:ph type="title" hasCustomPrompt="1"/>
          </p:nvPr>
        </p:nvSpPr>
        <p:spPr>
          <a:xfrm>
            <a:off x="533400" y="1016000"/>
            <a:ext cx="9753600" cy="3302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1" spc="-14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« Citation »</a:t>
            </a:r>
          </a:p>
        </p:txBody>
      </p:sp>
      <p:sp>
        <p:nvSpPr>
          <p:cNvPr id="3" name="Attribution"/>
          <p:cNvSpPr>
            <a:spLocks noGrp="1"/>
          </p:cNvSpPr>
          <p:nvPr>
            <p:ph type="body" idx="1" hasCustomPrompt="1"/>
          </p:nvPr>
        </p:nvSpPr>
        <p:spPr>
          <a:xfrm>
            <a:off x="762000" y="4572000"/>
            <a:ext cx="952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Auteur, source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  <p:sp>
        <p:nvSpPr>
          <p:cNvPr id="3" name="Caption"/>
          <p:cNvSpPr>
            <a:spLocks noGrp="1"/>
          </p:cNvSpPr>
          <p:nvPr>
            <p:ph type="title" hasCustomPrompt="1"/>
          </p:nvPr>
        </p:nvSpPr>
        <p:spPr>
          <a:xfrm>
            <a:off x="762000" y="5308600"/>
            <a:ext cx="6985000" cy="787400"/>
          </a:xfrm>
          <a:prstGeom prst="roundRect">
            <a:avLst>
              <a:gd name="adj" fmla="val 27000"/>
            </a:avLst>
          </a:prstGeom>
          <a:solidFill>
            <a:schemeClr val="bg1">
              <a:alpha val="84000"/>
            </a:schemeClr>
          </a:solidFill>
        </p:spPr>
        <p:txBody>
          <a:bodyPr vert="horz" wrap="square" lIns="203200" tIns="127000" rIns="203200" bIns="12700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  <a:defRPr sz="2000" b="1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de l’image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Texte et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50292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5029200" cy="1587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Text"/>
          <p:cNvSpPr>
            <a:spLocks noGrp="1"/>
          </p:cNvSpPr>
          <p:nvPr>
            <p:ph type="body" idx="1" hasCustomPrompt="1"/>
          </p:nvPr>
        </p:nvSpPr>
        <p:spPr>
          <a:xfrm>
            <a:off x="762000" y="2794000"/>
            <a:ext cx="5029200" cy="3302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 d’accompagnement</a:t>
            </a:r>
          </a:p>
        </p:txBody>
      </p:sp>
      <p:sp>
        <p:nvSpPr>
          <p:cNvPr id="5" name="Picture"/>
          <p:cNvSpPr>
            <a:spLocks noGrp="1"/>
          </p:cNvSpPr>
          <p:nvPr>
            <p:ph type="pic" idx="2" hasCustomPrompt="1"/>
          </p:nvPr>
        </p:nvSpPr>
        <p:spPr>
          <a:xfrm>
            <a:off x="6400800" y="0"/>
            <a:ext cx="5791200" cy="6858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ajouter une image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cxnSp>
        <p:nvCxnSpPr>
          <p:cNvPr id="4" name="Rule 1"/>
          <p:cNvCxnSpPr/>
          <p:nvPr userDrawn="1"/>
        </p:nvCxnSpPr>
        <p:spPr>
          <a:xfrm>
            <a:off x="7620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5" name="Label 1"/>
          <p:cNvSpPr>
            <a:spLocks noGrp="1"/>
          </p:cNvSpPr>
          <p:nvPr>
            <p:ph type="body" idx="14" hasCustomPrompt="1"/>
          </p:nvPr>
        </p:nvSpPr>
        <p:spPr>
          <a:xfrm>
            <a:off x="7620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Avant</a:t>
            </a:r>
          </a:p>
        </p:txBody>
      </p:sp>
      <p:sp>
        <p:nvSpPr>
          <p:cNvPr id="6" name="Column 1"/>
          <p:cNvSpPr>
            <a:spLocks noGrp="1"/>
          </p:cNvSpPr>
          <p:nvPr>
            <p:ph type="body" idx="15" hasCustomPrompt="1"/>
          </p:nvPr>
        </p:nvSpPr>
        <p:spPr>
          <a:xfrm>
            <a:off x="7620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  <p:cxnSp>
        <p:nvCxnSpPr>
          <p:cNvPr id="7" name="Rule 2"/>
          <p:cNvCxnSpPr/>
          <p:nvPr userDrawn="1"/>
        </p:nvCxnSpPr>
        <p:spPr>
          <a:xfrm>
            <a:off x="6299200" y="2425700"/>
            <a:ext cx="5130800" cy="0"/>
          </a:xfrm>
          <a:prstGeom prst="line">
            <a:avLst/>
          </a:prstGeom>
          <a:ln w="25400">
            <a:solidFill>
              <a:srgbClr val="C6C6C8"/>
            </a:solidFill>
          </a:ln>
        </p:spPr>
      </p:cxnSp>
      <p:sp>
        <p:nvSpPr>
          <p:cNvPr id="8" name="Label 2"/>
          <p:cNvSpPr>
            <a:spLocks noGrp="1"/>
          </p:cNvSpPr>
          <p:nvPr>
            <p:ph type="body" idx="16" hasCustomPrompt="1"/>
          </p:nvPr>
        </p:nvSpPr>
        <p:spPr>
          <a:xfrm>
            <a:off x="6299200" y="2565400"/>
            <a:ext cx="5130800" cy="2286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Après</a:t>
            </a:r>
          </a:p>
        </p:txBody>
      </p:sp>
      <p:sp>
        <p:nvSpPr>
          <p:cNvPr id="9" name="Column 2"/>
          <p:cNvSpPr>
            <a:spLocks noGrp="1"/>
          </p:cNvSpPr>
          <p:nvPr>
            <p:ph type="body" idx="17" hasCustomPrompt="1"/>
          </p:nvPr>
        </p:nvSpPr>
        <p:spPr>
          <a:xfrm>
            <a:off x="6299200" y="2921000"/>
            <a:ext cx="5130800" cy="317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8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Texte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Graphiq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hart"/>
          <p:cNvSpPr>
            <a:spLocks noGrp="1"/>
          </p:cNvSpPr>
          <p:nvPr>
            <p:ph type="chart" idx="1" hasCustomPrompt="1"/>
          </p:nvPr>
        </p:nvSpPr>
        <p:spPr>
          <a:xfrm>
            <a:off x="762000" y="2413000"/>
            <a:ext cx="10668000" cy="3302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Cliquez sur l’icône pour insérer un graphique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Source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Co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Code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302000"/>
          </a:xfrm>
          <a:prstGeom prst="roundRect">
            <a:avLst>
              <a:gd name="adj" fmla="val 4800"/>
            </a:avLst>
          </a:prstGeom>
          <a:solidFill>
            <a:schemeClr val="bg2"/>
          </a:solidFill>
        </p:spPr>
        <p:txBody>
          <a:bodyPr vert="horz" wrap="square" lIns="304800" tIns="254000" rIns="304800" bIns="254000" rtlCol="0" anchor="t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  <a:defRPr sz="1600" b="0" kern="0">
                <a:solidFill>
                  <a:schemeClr val="tx1"/>
                </a:solidFill>
                <a:latin typeface="Consolas"/>
                <a:ea typeface="+mn-ea"/>
                <a:cs typeface="+mn-cs"/>
              </a:defRPr>
            </a:lvl1pPr>
          </a:lstStyle>
          <a:p>
            <a:r>
              <a:rPr lang="fr-CH" dirty="0"/>
              <a:t>code</a:t>
            </a:r>
          </a:p>
        </p:txBody>
      </p:sp>
      <p:sp>
        <p:nvSpPr>
          <p:cNvPr id="5" name="Source"/>
          <p:cNvSpPr>
            <a:spLocks noGrp="1"/>
          </p:cNvSpPr>
          <p:nvPr>
            <p:ph type="body" idx="15" hasCustomPrompt="1"/>
          </p:nvPr>
        </p:nvSpPr>
        <p:spPr>
          <a:xfrm>
            <a:off x="762000" y="58801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Légende du code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  <p:sp>
        <p:nvSpPr>
          <p:cNvPr id="4" name="References"/>
          <p:cNvSpPr>
            <a:spLocks noGrp="1"/>
          </p:cNvSpPr>
          <p:nvPr>
            <p:ph type="body" idx="1" hasCustomPrompt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254000" indent="-254000" algn="l" defTabSz="914400" rtl="0" eaLnBrk="1" latinLnBrk="0" hangingPunct="1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  <a:defRPr sz="1600" b="0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Nom, P. (année). Titre. Éditeur.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title" hasCustomPrompt="1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 b="1" spc="-36" ker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Titre de la diapositive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showMasterSp="0" preserve="1">
  <p:cSld name="Fin">
    <p:bg>
      <p:bgPr>
        <a:blipFill dpi="0" rotWithShape="1">
          <a:blip r:embed="rIdNuance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yebrow"/>
          <p:cNvSpPr>
            <a:spLocks noGrp="1"/>
          </p:cNvSpPr>
          <p:nvPr>
            <p:ph type="body" idx="13" hasCustomPrompt="1"/>
          </p:nvPr>
        </p:nvSpPr>
        <p:spPr>
          <a:xfrm>
            <a:off x="762000" y="762000"/>
            <a:ext cx="10668000" cy="2159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300" b="1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Surtitre</a:t>
            </a:r>
          </a:p>
        </p:txBody>
      </p:sp>
      <p:sp>
        <p:nvSpPr>
          <p:cNvPr id="3" name="Title"/>
          <p:cNvSpPr>
            <a:spLocks noGrp="1"/>
          </p:cNvSpPr>
          <p:nvPr>
            <p:ph type="ctrTitle" hasCustomPrompt="1"/>
          </p:nvPr>
        </p:nvSpPr>
        <p:spPr>
          <a:xfrm>
            <a:off x="762000" y="3213100"/>
            <a:ext cx="9525000" cy="1778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6000" b="1" spc="-120" kern="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fr-CH" dirty="0"/>
              <a:t>Merci</a:t>
            </a:r>
          </a:p>
        </p:txBody>
      </p:sp>
      <p:sp>
        <p:nvSpPr>
          <p:cNvPr id="4" name="Subtitle"/>
          <p:cNvSpPr>
            <a:spLocks noGrp="1"/>
          </p:cNvSpPr>
          <p:nvPr>
            <p:ph type="subTitle" idx="1" hasCustomPrompt="1"/>
          </p:nvPr>
        </p:nvSpPr>
        <p:spPr>
          <a:xfrm>
            <a:off x="762000" y="5194300"/>
            <a:ext cx="8255000" cy="635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0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Sous-titre</a:t>
            </a:r>
          </a:p>
        </p:txBody>
      </p:sp>
      <p:sp>
        <p:nvSpPr>
          <p:cNvPr id="5" name="Meta"/>
          <p:cNvSpPr>
            <a:spLocks noGrp="1"/>
          </p:cNvSpPr>
          <p:nvPr>
            <p:ph type="body" idx="14" hasCustomPrompt="1"/>
          </p:nvPr>
        </p:nvSpPr>
        <p:spPr>
          <a:xfrm>
            <a:off x="762000" y="5880100"/>
            <a:ext cx="9525000" cy="2159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100" b="0" kern="0">
                <a:solidFill>
                  <a:schemeClr val="tx1">
                    <a:alpha val="8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fr-CH" dirty="0"/>
              <a:t>Prénom Nom · e-mail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762000" y="1054100"/>
            <a:ext cx="10668000" cy="10795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r>
              <a:rPr lang="fr-CH"/>
              <a:t>Modifiez le style du titre</a:t>
            </a:r>
          </a:p>
        </p:txBody>
      </p:sp>
      <p:sp>
        <p:nvSpPr>
          <p:cNvPr id="3" name="Text"/>
          <p:cNvSpPr>
            <a:spLocks noGrp="1"/>
          </p:cNvSpPr>
          <p:nvPr>
            <p:ph type="body" idx="1"/>
          </p:nvPr>
        </p:nvSpPr>
        <p:spPr>
          <a:xfrm>
            <a:off x="762000" y="2413000"/>
            <a:ext cx="10668000" cy="3683000"/>
          </a:xfrm>
          <a:prstGeom prst="rect">
            <a:avLst/>
          </a:prstGeom>
        </p:spPr>
        <p:txBody>
          <a:bodyPr vert="horz" wrap="square" lIns="0" tIns="0" rIns="0" bIns="0" rtlCol="0" anchor="t">
            <a:normAutofit/>
          </a:bodyPr>
          <a:lstStyle/>
          <a:p>
            <a:pPr lvl="0"/>
            <a:r>
              <a:rPr lang="fr-CH"/>
              <a:t>Modifiez les styles du texte du masque</a:t>
            </a:r>
          </a:p>
          <a:p>
            <a:pPr lvl="1"/>
            <a:r>
              <a:rPr lang="fr-CH"/>
              <a:t>Deuxième niveau</a:t>
            </a:r>
          </a:p>
          <a:p>
            <a:pPr lvl="2"/>
            <a:r>
              <a:rPr lang="fr-CH"/>
              <a:t>Troisième niveau</a:t>
            </a:r>
          </a:p>
          <a:p>
            <a:pPr lvl="3"/>
            <a:r>
              <a:rPr lang="fr-CH"/>
              <a:t>Quatrième niveau</a:t>
            </a:r>
          </a:p>
          <a:p>
            <a:pPr lvl="4"/>
            <a:r>
              <a:rPr lang="fr-CH"/>
              <a:t>Cinquième niveau</a:t>
            </a:r>
          </a:p>
        </p:txBody>
      </p:sp>
      <p:sp>
        <p:nvSpPr>
          <p:cNvPr id="4" name="Slide number"/>
          <p:cNvSpPr txBox="1"/>
          <p:nvPr userDrawn="1"/>
        </p:nvSpPr>
        <p:spPr>
          <a:xfrm>
            <a:off x="9525000" y="6324600"/>
            <a:ext cx="1905000" cy="228600"/>
          </a:xfrm>
          <a:prstGeom prst="rect">
            <a:avLst/>
          </a:prstGeom>
          <a:noFill/>
        </p:spPr>
        <p:txBody>
          <a:bodyPr vert="horz" wrap="square" lIns="0" tIns="0" rIns="0" bIns="0" rtlCol="0" anchor="b">
            <a:noAutofit/>
          </a:bodyPr>
          <a:lstStyle/>
          <a:p>
            <a:pPr algn="r"/>
            <a:fld id="{8C3D9A4E-2F1B-4C6D-9E7A-5B4C3D2E1F00}" type="slidenum">
              <a:rPr lang="fr-CH" sz="1100" b="0" dirty="0">
                <a:solidFill>
                  <a:schemeClr val="tx2"/>
                </a:solidFill>
              </a:rPr>
              <a:t>‹#›</a:t>
            </a:fld>
            <a:endParaRPr lang="fr-CH" sz="11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lvl1pPr marL="0" indent="0" algn="l" defTabSz="914400" rtl="0" eaLnBrk="1" latinLnBrk="0" hangingPunct="1">
        <a:lnSpc>
          <a:spcPct val="90000"/>
        </a:lnSpc>
        <a:spcBef>
          <a:spcPts val="0"/>
        </a:spcBef>
        <a:spcAft>
          <a:spcPts val="0"/>
        </a:spcAft>
        <a:buNone/>
        <a:defRPr sz="3600" b="1" spc="-36" kern="0">
          <a:solidFill>
            <a:schemeClr val="tx1"/>
          </a:solidFill>
          <a:latin typeface="+mj-lt"/>
          <a:ea typeface="+mn-ea"/>
          <a:cs typeface="+mn-cs"/>
        </a:defRPr>
      </a:lvl1pPr>
    </p:titleStyle>
    <p:bodyStyle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100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  <a:lvl2pPr marL="2286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800" b="0" kern="0">
          <a:solidFill>
            <a:schemeClr val="tx1"/>
          </a:solidFill>
          <a:latin typeface="+mn-lt"/>
          <a:ea typeface="+mn-ea"/>
          <a:cs typeface="+mn-cs"/>
        </a:defRPr>
      </a:lvl2pPr>
      <a:lvl3pPr marL="4572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3pPr>
      <a:lvl4pPr marL="6858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•"/>
        <a:defRPr sz="1600" b="0" kern="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228600" algn="l" defTabSz="914400" rtl="0" eaLnBrk="1" latinLnBrk="0" hangingPunct="1">
        <a:lnSpc>
          <a:spcPct val="115000"/>
        </a:lnSpc>
        <a:spcBef>
          <a:spcPts val="0"/>
        </a:spcBef>
        <a:spcAft>
          <a:spcPts val="600"/>
        </a:spcAft>
        <a:buClr>
          <a:schemeClr val="tx2"/>
        </a:buClr>
        <a:buSzPct val="100000"/>
        <a:buFont typeface="Arial"/>
        <a:buChar char="–"/>
        <a:defRPr sz="1600" b="0" kern="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fr-CH"/>
      </a:defPPr>
      <a:lvl1pPr marL="0" indent="0" algn="l" defTabSz="914400" rtl="0" eaLnBrk="1" latinLnBrk="0" hangingPunct="1">
        <a:lnSpc>
          <a:spcPct val="115000"/>
        </a:lnSpc>
        <a:spcBef>
          <a:spcPts val="0"/>
        </a:spcBef>
        <a:spcAft>
          <a:spcPts val="0"/>
        </a:spcAft>
        <a:buNone/>
        <a:defRPr sz="1800" b="0" kern="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Suivi de projet · [Projet]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Point d’avancement n° [x]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[Période couverte]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[date]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Avancement global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65 %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Mise à jour : [date] · déplacez la barre pour refléter l’avancement</a:t>
            </a:r>
          </a:p>
        </p:txBody>
      </p:sp>
      <p:sp>
        <p:nvSpPr>
          <p:cNvPr id="6" name="Progress track"/>
          <p:cNvSpPr/>
          <p:nvPr/>
        </p:nvSpPr>
        <p:spPr>
          <a:xfrm>
            <a:off x="762000" y="3873500"/>
            <a:ext cx="8255000" cy="101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Progress"/>
          <p:cNvSpPr/>
          <p:nvPr/>
        </p:nvSpPr>
        <p:spPr>
          <a:xfrm>
            <a:off x="762000" y="3873500"/>
            <a:ext cx="5365750" cy="1016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Status"/>
          <p:cNvSpPr/>
          <p:nvPr/>
        </p:nvSpPr>
        <p:spPr>
          <a:xfrm>
            <a:off x="762000" y="4311650"/>
            <a:ext cx="127000" cy="1270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Status label"/>
          <p:cNvSpPr txBox="1"/>
          <p:nvPr/>
        </p:nvSpPr>
        <p:spPr>
          <a:xfrm>
            <a:off x="977900" y="4254500"/>
            <a:ext cx="5715000" cy="254000"/>
          </a:xfrm>
          <a:prstGeom prst="rect">
            <a:avLst/>
          </a:prstGeom>
          <a:noFill/>
        </p:spPr>
        <p:txBody>
          <a:bodyPr wrap="square" lIns="0" rIns="0" tIns="0" bIns="0"/>
          <a:lstStyle/>
          <a:p>
            <a:pPr algn="l"/>
            <a:r>
              <a:rPr sz="2000" b="1" lang="fr-CH"/>
              <a:t>Dans les temps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Depuis le dernier point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Faits marquants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Réalisé</a:t>
            </a:r>
          </a:p>
          <a:p>
            <a:pPr lvl="1"/>
            <a:r>
              <a:rPr lang="fr-CH"/>
              <a:t>[Livrables terminés]</a:t>
            </a:r>
          </a:p>
          <a:p>
            <a:pPr/>
            <a:r>
              <a:rPr lang="fr-CH"/>
              <a:t>En cours</a:t>
            </a:r>
          </a:p>
          <a:p>
            <a:pPr lvl="1"/>
            <a:r>
              <a:rPr lang="fr-CH"/>
              <a:t>[Travaux en cours et échéance]</a:t>
            </a:r>
          </a:p>
          <a:p>
            <a:pPr/>
            <a:r>
              <a:rPr lang="fr-CH"/>
              <a:t>Bloqué</a:t>
            </a:r>
          </a:p>
          <a:p>
            <a:pPr lvl="1"/>
            <a:r>
              <a:rPr lang="fr-CH"/>
              <a:t>[Obstacle et aide nécessaire]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Planning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Jalons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20320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4445000"/>
                <a:gridCol w="1778000"/>
                <a:gridCol w="1778000"/>
                <a:gridCol w="2667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Jalon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Prévu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Prévision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Statut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[Cahier des charges]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AEAEB2"/>
                          </a:solidFill>
                        </a:rPr>
                        <a:t>●  </a:t>
                      </a:r>
                      <a:r>
                        <a:rPr sz="1600" lang="fr-CH"/>
                        <a:t>Terminé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[Prototype]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Dans les temps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[Tests]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À surveiller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[Livraison]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[jj.mm]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En retard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Charge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Heures prévues et réalisées par phase</a:t>
            </a:r>
          </a:p>
        </p:txBody>
      </p:sp>
      <p:graphicFrame>
        <p:nvGraphicFramePr>
          <p:cNvPr id="4" name="Chart Placeholder 3"/>
          <p:cNvGraphicFramePr>
            <a:graphicFrameLocks noGrp="1"/>
          </p:cNvGraphicFramePr>
          <p:nvPr>
            <p:ph type="chart" idx="1"/>
          </p:nvPr>
        </p:nvGraphicFramePr>
        <p:xfrm>
          <a:off x="762000" y="2413000"/>
          <a:ext cx="10668000" cy="330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Placeholder 4"/>
          <p:cNvSpPr>
            <a:spLocks noGrp="1"/>
          </p:cNvSpPr>
          <p:nvPr>
            <p:ph type="body" idx="15"/>
          </p:nvPr>
        </p:nvSpPr>
        <p:spPr/>
        <p:txBody>
          <a:bodyPr/>
          <a:lstStyle/>
          <a:p>
            <a:pPr/>
            <a:r>
              <a:rPr lang="fr-CH"/>
              <a:t>Source : [journal des heures]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Risques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Risques et mesures</a:t>
            </a:r>
          </a:p>
        </p:txBody>
      </p:sp>
      <p:graphicFrame>
        <p:nvGraphicFramePr>
          <p:cNvPr id="4" name="Table"/>
          <p:cNvGraphicFramePr>
            <a:graphicFrameLocks noGrp="1"/>
          </p:cNvGraphicFramePr>
          <p:nvPr/>
        </p:nvGraphicFramePr>
        <p:xfrm>
          <a:off x="762000" y="2413000"/>
          <a:ext cx="10668000" cy="1625600"/>
        </p:xfrm>
        <a:graphic>
          <a:graphicData uri="http://schemas.openxmlformats.org/drawingml/2006/table">
            <a:tbl>
              <a:tblPr firstRow="1">
                <a:tableStyleId>{6F3A2C1E-8B1D-4F7A-9C55-0A1B2C3D4E5F}</a:tableStyleId>
              </a:tblPr>
              <a:tblGrid>
                <a:gridCol w="3556000"/>
                <a:gridCol w="1905000"/>
                <a:gridCol w="1905000"/>
                <a:gridCol w="3302000"/>
              </a:tblGrid>
              <a:tr h="406400">
                <a:tc>
                  <a:txBody>
                    <a:bodyPr/>
                    <a:lstStyle/>
                    <a:p>
                      <a:r>
                        <a:rPr sz="1600" b="1" lang="fr-CH"/>
                        <a:t>Risque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Probabilité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Impact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b="1" lang="fr-CH"/>
                        <a:t>Mesure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19050" cmpd="sng">
                      <a:solidFill>
                        <a:srgbClr val="1D1D1F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1]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2]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Moyenne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383C"/>
                          </a:solidFill>
                        </a:rPr>
                        <a:t>●  </a:t>
                      </a:r>
                      <a:r>
                        <a:rPr sz="1600" lang="fr-CH"/>
                        <a:t>Élevé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  <a:tr h="406400">
                <a:tc>
                  <a:txBody>
                    <a:bodyPr/>
                    <a:lstStyle/>
                    <a:p>
                      <a:r>
                        <a:rPr sz="1600" lang="fr-CH"/>
                        <a:t>[Risque 3]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34C759"/>
                          </a:solidFill>
                        </a:rPr>
                        <a:t>●  </a:t>
                      </a:r>
                      <a:r>
                        <a:rPr sz="1600" lang="fr-CH"/>
                        <a:t>Faible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8D28"/>
                          </a:solidFill>
                        </a:rPr>
                        <a:t>●  </a:t>
                      </a:r>
                      <a:r>
                        <a:rPr sz="1600" lang="fr-CH"/>
                        <a:t>Moyen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 lang="fr-CH"/>
                        <a:t>[Mesure prévue]</a:t>
                      </a:r>
                    </a:p>
                  </a:txBody>
                  <a:tcPr marL="88900" marR="88900" marT="50800" marB="50800" anchor="ctr">
                    <a:lnL w="0" cmpd="sng">
                      <a:noFill/>
                    </a:lnL>
                    <a:lnR w="0" cmpd="sng">
                      <a:noFill/>
                    </a:lnR>
                    <a:lnT w="0" cmpd="sng">
                      <a:noFill/>
                    </a:lnT>
                    <a:lnB w="9525" cmpd="sng">
                      <a:solidFill>
                        <a:srgbClr val="C6C6C8"/>
                      </a:solidFill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À décider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Décisions attendues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/>
            <a:r>
              <a:rPr lang="fr-CH"/>
              <a:t>[Décision 1]</a:t>
            </a:r>
          </a:p>
          <a:p>
            <a:pPr lvl="1"/>
            <a:r>
              <a:rPr lang="fr-CH"/>
              <a:t>[Options et recommandation]</a:t>
            </a:r>
          </a:p>
          <a:p>
            <a:pPr/>
            <a:r>
              <a:rPr lang="fr-CH"/>
              <a:t>[Décision 2]</a:t>
            </a:r>
          </a:p>
          <a:p>
            <a:pPr lvl="1"/>
            <a:r>
              <a:rPr lang="fr-CH"/>
              <a:t>[Avant quelle date]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3"/>
          </p:nvPr>
        </p:nvSpPr>
        <p:spPr/>
        <p:txBody>
          <a:bodyPr/>
          <a:lstStyle/>
          <a:p>
            <a:pPr/>
            <a:r>
              <a:rPr lang="fr-CH"/>
              <a:t>Suite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/>
            <a:r>
              <a:rPr lang="fr-CH"/>
              <a:t>Prochaines étapes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lang="fr-CH"/>
              <a:t>D’ici au prochain point :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  <a:p>
            <a:pPr lvl="1"/>
            <a:r>
              <a:rPr lang="fr-CH"/>
              <a:t>[Action] · [responsable] · [jj.mm]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/>
            <a:r>
              <a:rPr lang="fr-CH"/>
              <a:t>Questions et décisions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/>
            <a:r>
              <a:rPr lang="fr-CH"/>
              <a:t>Prochain point : [date]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4"/>
          </p:nvPr>
        </p:nvSpPr>
        <p:spPr/>
        <p:txBody>
          <a:bodyPr/>
          <a:lstStyle/>
          <a:p>
            <a:pPr/>
            <a:r>
              <a:rPr lang="fr-CH"/>
              <a:t>[Prénom Nom] · [e-mail]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Halo Glacier">
  <a:themeElements>
    <a:clrScheme name="Halo Glacier">
      <a:dk1>
        <a:srgbClr val="1D1D1F"/>
      </a:dk1>
      <a:lt1>
        <a:srgbClr val="FFFFFF"/>
      </a:lt1>
      <a:dk2>
        <a:srgbClr val="6C6C70"/>
      </a:dk2>
      <a:lt2>
        <a:srgbClr val="F2F2F7"/>
      </a:lt2>
      <a:accent1>
        <a:srgbClr val="2B5C86"/>
      </a:accent1>
      <a:accent2>
        <a:srgbClr val="FA8921"/>
      </a:accent2>
      <a:accent3>
        <a:srgbClr val="00C5B1"/>
      </a:accent3>
      <a:accent4>
        <a:srgbClr val="CFA500"/>
      </a:accent4>
      <a:accent5>
        <a:srgbClr val="CB30E0"/>
      </a:accent5>
      <a:accent6>
        <a:srgbClr val="34C759"/>
      </a:accent6>
      <a:hlink>
        <a:srgbClr val="2B5C86"/>
      </a:hlink>
      <a:folHlink>
        <a:srgbClr val="5747E7"/>
      </a:folHlink>
    </a:clrScheme>
    <a:fontScheme name="Halo Glacier">
      <a:majorFont>
        <a:latin typeface="Helvetica"/>
        <a:ea typeface=""/>
        <a:cs typeface=""/>
      </a:majorFont>
      <a:minorFont>
        <a:latin typeface="Helvetica"/>
        <a:ea typeface=""/>
        <a:cs typeface=""/>
      </a:minorFont>
    </a:fontScheme>
    <a:fmtScheme name="Halo Glacier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>
            <a:shade val="85000"/>
          </a:schemeClr>
        </a:soli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76200" dist="12700" dir="5400000" algn="t" rotWithShape="0">
              <a:srgbClr val="000000">
                <a:alpha val="16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Company>Halo</Company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Halo</dc:creator>
  <cp:lastModifiedBy>Halo</cp:lastModifiedBy>
  <dc:language>fr-CH</dc:language>
  <dcterms:created xsi:type="dcterms:W3CDTF">2026-10-12T12:00:00Z</dcterms:created>
  <dcterms:modified xsi:type="dcterms:W3CDTF">2026-10-12T12:00:00Z</dcterms:modified>
</cp:coreProperties>
</file>