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85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→ Nouvelle diapositive : choisissez une mise en page. Titre, sections et fin portent la nuance, le reste est sur fond clair. Pour changer de nuance : Création → Thèmes → Halo Prune, Halo Forêt…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droit sur l’image → Changer l’image.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Halo · Modèle de présentation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Une idée par diapositive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Chaque mise en page du modèle, prête à dupliquer.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Les mises en page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Dix-sept cadres sur une seule grille.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phrase forte, seule, se retient mieux qu’une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Titre et contenu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Le premier niveau est un paragraphe sans puce : une idée, une phrase.</a:t>
            </a:r>
          </a:p>
          <a:p>
            <a:pPr lvl="1"/>
            <a:r>
              <a:rPr lang="fr-CH"/>
              <a:t>Touche Tab : une puce de deuxième niveau</a:t>
            </a:r>
          </a:p>
          <a:p>
            <a:pPr lvl="1"/>
            <a:r>
              <a:rPr lang="fr-CH"/>
              <a:t>Maj + Tab : retour au paragraphe</a:t>
            </a:r>
          </a:p>
          <a:p>
            <a:pPr/>
            <a:r>
              <a:rPr lang="fr-CH"/>
              <a:t>Le cadre accepte aussi un tableau, un graphique ou une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contenus côte à côte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À gauche, le texte qui explique.</a:t>
            </a:r>
          </a:p>
          <a:p>
            <a:pPr lvl="1"/>
            <a:r>
              <a:rPr lang="fr-CH"/>
              <a:t>une puce</a:t>
            </a:r>
          </a:p>
          <a:p>
            <a:pPr lvl="1"/>
            <a:r>
              <a:rPr lang="fr-CH"/>
              <a:t>une autre puce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fr-CH"/>
              <a:t>À droite, ce qui le prouve : un tableau, un graphique ou une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Trois points au plus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Un titre court par point</a:t>
            </a:r>
          </a:p>
          <a:p>
            <a:pPr lvl="1"/>
            <a:r>
              <a:rPr lang="fr-CH"/>
              <a:t>Entrée, puis Tab : la ligne d’explication passe en gris.</a:t>
            </a:r>
          </a:p>
          <a:p>
            <a:pPr/>
            <a:r>
              <a:rPr lang="fr-CH"/>
              <a:t>Du poids et de l’espace</a:t>
            </a:r>
          </a:p>
          <a:p>
            <a:pPr lvl="1"/>
            <a:r>
              <a:rPr lang="fr-CH"/>
              <a:t>Pas de puces : la graisse et l’espacement suffisent.</a:t>
            </a:r>
          </a:p>
          <a:p>
            <a:pPr/>
            <a:r>
              <a:rPr lang="fr-CH"/>
              <a:t>Trois au maximum</a:t>
            </a:r>
          </a:p>
          <a:p>
            <a:pPr lvl="1"/>
            <a:r>
              <a:rPr lang="fr-CH"/>
              <a:t>Au-delà, découpez en deux diapositives.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Chiffre clé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chiffre par diapositive, assez grand pour être lu du fond de la salle.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[référence de la donnée]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« [Une citation courte, exacte et sourcée.] 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[Auteur], [source], [année]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image plein cadre, une légende courte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 et image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texte à gauche, l’image jusqu’au bord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Clic droit → Changer l’image pour la remplacer ; le cadrage s’adapte.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Comparaison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colonnes de même poids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Avant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[Situation de départ]</a:t>
            </a:r>
          </a:p>
          <a:p>
            <a:pPr/>
            <a:r>
              <a:rPr lang="fr-CH"/>
              <a:t>[Problème]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Après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[Situation visée]</a:t>
            </a:r>
          </a:p>
          <a:p>
            <a:pPr/>
            <a:r>
              <a:rPr lang="fr-CH"/>
              <a:t>[Bénéfice]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Graphique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titre dit ce que montre le graphique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 · clic droit → Modifier les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extrait court, lisible du fond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def partager(depenses, membres):</a:t>
            </a:r>
          </a:p>
          <a:p>
            <a:pPr/>
            <a:r>
              <a:rPr lang="fr-CH"/>
              <a:t>    total = sum(d.montant for d in depenses)</a:t>
            </a:r>
          </a:p>
          <a:p>
            <a:pPr/>
            <a:r>
              <a:rPr lang="fr-CH"/>
              <a:t>    part = total / len(membres)</a:t>
            </a:r>
          </a:p>
          <a:p>
            <a:pPr/>
            <a:r>
              <a:rPr lang="fr-CH"/>
              <a:t>    return {m: m.paye - part for m in membres}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Extrait de [fichier] · quinze lignes au plus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</a:t>
            </a:r>
            <a:r>
              <a:rPr i="1" lang="fr-CH"/>
              <a:t>Titre de l’ouvrage</a:t>
            </a:r>
            <a:r>
              <a:rPr lang="fr-CH"/>
              <a:t>. Éditeur.]</a:t>
            </a:r>
          </a:p>
          <a:p>
            <a:pPr/>
            <a:r>
              <a:rPr lang="fr-CH"/>
              <a:t>[Nom, P. et Nom, P. (Année). Titre de l’article. </a:t>
            </a:r>
            <a:r>
              <a:rPr i="1" lang="fr-CH"/>
              <a:t>Revue</a:t>
            </a:r>
            <a:r>
              <a:rPr lang="fr-CH"/>
              <a:t>, </a:t>
            </a:r>
            <a:r>
              <a:rPr i="1" lang="fr-CH"/>
              <a:t>volume</a:t>
            </a:r>
            <a:r>
              <a:rPr lang="fr-CH"/>
              <a:t>(numéro), pages.]</a:t>
            </a:r>
          </a:p>
          <a:p>
            <a:pPr/>
            <a:r>
              <a:rPr lang="fr-CH"/>
              <a:t>[Organisation. (Année). </a:t>
            </a:r>
            <a:r>
              <a:rPr i="1" lang="fr-CH"/>
              <a:t>Titre de la page</a:t>
            </a:r>
            <a:r>
              <a:rPr lang="fr-CH"/>
              <a:t>.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Tableau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tableau sobre : en-tête, filets, chiffres alignés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953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Phase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Début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Fin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lang="fr-CH"/>
                        <a:t>Heures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Analyse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40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Conception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32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Réalisation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85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Tests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28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Forêt">
  <a:themeElements>
    <a:clrScheme name="Halo Forê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44A33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44A33"/>
      </a:hlink>
      <a:folHlink>
        <a:srgbClr val="5747E7"/>
      </a:folHlink>
    </a:clrScheme>
    <a:fontScheme name="Halo Forê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Forê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Forêt">
  <a:themeElements>
    <a:clrScheme name="Halo Forê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44A33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44A33"/>
      </a:hlink>
      <a:folHlink>
        <a:srgbClr val="5747E7"/>
      </a:folHlink>
    </a:clrScheme>
    <a:fontScheme name="Halo Forê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Forê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