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1384000" cy="30276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Lisible à 1,5 m : titre ≥ 80 pt, intertitres ≥ 36 pt, texte ≥ 24 pt. Moins de texte, plus de figures. Changer l’image du bandeau : clic droit → Changer l’image (Nuances/Images/Couverture Word).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6" Type="http://schemas.openxmlformats.org/officeDocument/2006/relationships/slideLayout" Target="../slideLayouts/slideLayout16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6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urface de la nuance" descr="ambre-cover.jpg"/>
          <p:cNvPicPr>
            <a:picLocks noChangeAspect="1"/>
          </p:cNvPicPr>
          <p:nvPr/>
        </p:nvPicPr>
        <p:blipFill>
          <a:blip r:embed="rId2"/>
          <a:srcRect t="17250" b="17250"/>
          <a:stretch>
            <a:fillRect/>
          </a:stretch>
        </p:blipFill>
        <p:spPr>
          <a:xfrm>
            <a:off x="0" y="0"/>
            <a:ext cx="21384000" cy="7200000"/>
          </a:xfrm>
          <a:prstGeom prst="rect">
            <a:avLst/>
          </a:prstGeom>
        </p:spPr>
      </p:pic>
      <p:sp>
        <p:nvSpPr>
          <p:cNvPr id="3" name="Eyebrow"/>
          <p:cNvSpPr txBox="1"/>
          <p:nvPr/>
        </p:nvSpPr>
        <p:spPr>
          <a:xfrm>
            <a:off x="1296000" y="1152000"/>
            <a:ext cx="1879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400" b="1" lang="fr-CH">
                <a:solidFill>
                  <a:srgbClr val="FFFFFF"/>
                </a:solidFill>
              </a:rPr>
              <a:t>Poster · [Cours ou conférence] · [date]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296000" y="1872000"/>
            <a:ext cx="18792000" cy="3312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8400" b="1" lang="fr-CH">
                <a:solidFill>
                  <a:srgbClr val="FFFFFF"/>
                </a:solidFill>
              </a:rPr>
              <a:t>[Titre du poster : la question ou le résultat principal]</a:t>
            </a:r>
          </a:p>
        </p:txBody>
      </p:sp>
      <p:sp>
        <p:nvSpPr>
          <p:cNvPr id="5" name="Authors"/>
          <p:cNvSpPr txBox="1"/>
          <p:nvPr/>
        </p:nvSpPr>
        <p:spPr>
          <a:xfrm>
            <a:off x="1296000" y="5400000"/>
            <a:ext cx="1879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3200" b="1" lang="fr-CH">
                <a:solidFill>
                  <a:srgbClr val="FFFFFF"/>
                </a:solidFill>
              </a:rPr>
              <a:t>[Prénom Nom], [Prénom Nom], [Prénom Nom]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600" b="0" lang="fr-CH">
                <a:solidFill>
                  <a:srgbClr val="FFFFFF"/>
                </a:solidFill>
              </a:rPr>
              <a:t>HES-SO Valais-Wallis · Haute École de Gestion</a:t>
            </a:r>
          </a:p>
        </p:txBody>
      </p:sp>
      <p:sp>
        <p:nvSpPr>
          <p:cNvPr id="6" name="Introduction"/>
          <p:cNvSpPr txBox="1"/>
          <p:nvPr/>
        </p:nvSpPr>
        <p:spPr>
          <a:xfrm>
            <a:off x="1296000" y="8208000"/>
            <a:ext cx="5832000" cy="43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Introduction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contexte en trois ou quatre phrases : de quoi parle-t-on, et pourquoi c’est important.]</a:t>
            </a:r>
          </a:p>
        </p:txBody>
      </p:sp>
      <p:sp>
        <p:nvSpPr>
          <p:cNvPr id="7" name="Question de recherche"/>
          <p:cNvSpPr/>
          <p:nvPr/>
        </p:nvSpPr>
        <p:spPr>
          <a:xfrm>
            <a:off x="1296000" y="12816000"/>
            <a:ext cx="5832000" cy="3456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0" rIns="360000" tIns="288000" bIns="288000"/>
          <a:lstStyle/>
          <a:p>
            <a:pPr algn="l">
              <a:spcAft>
                <a:spcPts val="800"/>
              </a:spcAft>
            </a:pPr>
            <a:r>
              <a:rPr sz="2200" b="1" lang="fr-CH">
                <a:solidFill>
                  <a:schemeClr val="bg1"/>
                </a:solidFill>
              </a:rPr>
              <a:t>Question de recherche</a:t>
            </a:r>
          </a:p>
          <a:p>
            <a:pPr algn="l">
              <a:spcAft>
                <a:spcPts val="800"/>
              </a:spcAft>
            </a:pPr>
            <a:r>
              <a:rPr sz="3400" b="1" lang="fr-CH">
                <a:solidFill>
                  <a:schemeClr val="bg1"/>
                </a:solidFill>
              </a:rPr>
              <a:t>[La question, en une phrase que l’on comprend de loin ?]</a:t>
            </a:r>
          </a:p>
        </p:txBody>
      </p:sp>
      <p:sp>
        <p:nvSpPr>
          <p:cNvPr id="8" name="Method"/>
          <p:cNvSpPr txBox="1"/>
          <p:nvPr/>
        </p:nvSpPr>
        <p:spPr>
          <a:xfrm>
            <a:off x="1296000" y="16776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Méthode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[Démarche, données, échantillon, outils : ce qu’il faut pour juger les résultats.]</a:t>
            </a:r>
          </a:p>
        </p:txBody>
      </p:sp>
      <p:pic>
        <p:nvPicPr>
          <p:cNvPr id="9" name="Figure 1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000" y="20160000"/>
            <a:ext cx="5832000" cy="3276000"/>
          </a:xfrm>
          <a:prstGeom prst="rect">
            <a:avLst/>
          </a:prstGeom>
        </p:spPr>
      </p:pic>
      <p:sp>
        <p:nvSpPr>
          <p:cNvPr id="10" name="Figure 1 caption"/>
          <p:cNvSpPr txBox="1"/>
          <p:nvPr/>
        </p:nvSpPr>
        <p:spPr>
          <a:xfrm>
            <a:off x="1296000" y="2358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1 – [Schéma de la démarche]</a:t>
            </a:r>
          </a:p>
        </p:txBody>
      </p:sp>
      <p:sp>
        <p:nvSpPr>
          <p:cNvPr id="11" name="Results heading"/>
          <p:cNvSpPr txBox="1"/>
          <p:nvPr/>
        </p:nvSpPr>
        <p:spPr>
          <a:xfrm>
            <a:off x="7776000" y="8208000"/>
            <a:ext cx="5832000" cy="14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Résultats</a:t>
            </a:r>
          </a:p>
        </p:txBody>
      </p:sp>
      <p:pic>
        <p:nvPicPr>
          <p:cNvPr id="12" name="Figure 2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9432000"/>
            <a:ext cx="5832000" cy="4032000"/>
          </a:xfrm>
          <a:prstGeom prst="rect">
            <a:avLst/>
          </a:prstGeom>
        </p:spPr>
      </p:pic>
      <p:sp>
        <p:nvSpPr>
          <p:cNvPr id="13" name="Figure 2 caption"/>
          <p:cNvSpPr txBox="1"/>
          <p:nvPr/>
        </p:nvSpPr>
        <p:spPr>
          <a:xfrm>
            <a:off x="7776000" y="13608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2 – [Ce que montre la figure]</a:t>
            </a:r>
          </a:p>
        </p:txBody>
      </p:sp>
      <p:sp>
        <p:nvSpPr>
          <p:cNvPr id="14" name="Key number"/>
          <p:cNvSpPr txBox="1"/>
          <p:nvPr/>
        </p:nvSpPr>
        <p:spPr>
          <a:xfrm>
            <a:off x="7776000" y="14400000"/>
            <a:ext cx="5832000" cy="46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000" b="1" lang="fr-CH">
                <a:solidFill>
                  <a:schemeClr val="accent1"/>
                </a:solidFill>
              </a:rPr>
              <a:t>00 %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[Le résultat principal, en une phrase.]</a:t>
            </a:r>
          </a:p>
        </p:txBody>
      </p:sp>
      <p:pic>
        <p:nvPicPr>
          <p:cNvPr id="15" name="Figure 3" descr="image-placeholder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0" y="19440000"/>
            <a:ext cx="5832000" cy="3276000"/>
          </a:xfrm>
          <a:prstGeom prst="rect">
            <a:avLst/>
          </a:prstGeom>
        </p:spPr>
      </p:pic>
      <p:sp>
        <p:nvSpPr>
          <p:cNvPr id="16" name="Figure 3 caption"/>
          <p:cNvSpPr txBox="1"/>
          <p:nvPr/>
        </p:nvSpPr>
        <p:spPr>
          <a:xfrm>
            <a:off x="7776000" y="22860000"/>
            <a:ext cx="5832000" cy="50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Figure 3 – [Ce que montre la figure]</a:t>
            </a:r>
          </a:p>
        </p:txBody>
      </p:sp>
      <p:sp>
        <p:nvSpPr>
          <p:cNvPr id="17" name="Discussion"/>
          <p:cNvSpPr txBox="1"/>
          <p:nvPr/>
        </p:nvSpPr>
        <p:spPr>
          <a:xfrm>
            <a:off x="14256000" y="8208000"/>
            <a:ext cx="5832000" cy="54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Discussion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[Ce que les résultats signifient, leurs limites, ce qu’ils changent.]</a:t>
            </a:r>
          </a:p>
        </p:txBody>
      </p:sp>
      <p:sp>
        <p:nvSpPr>
          <p:cNvPr id="18" name="Conclusion"/>
          <p:cNvSpPr txBox="1"/>
          <p:nvPr/>
        </p:nvSpPr>
        <p:spPr>
          <a:xfrm>
            <a:off x="14256000" y="14112000"/>
            <a:ext cx="5832000" cy="61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4000" b="1" lang="fr-CH">
                <a:solidFill>
                  <a:schemeClr val="accent1"/>
                </a:solidFill>
              </a:rPr>
              <a:t>Conclusion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1. [Premier message à retenir]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2. [Deuxième message]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2600" b="0" lang="fr-CH">
                <a:solidFill>
                  <a:schemeClr val="tx1"/>
                </a:solidFill>
              </a:rPr>
              <a:t>3. [Suite ou recommandation]</a:t>
            </a:r>
          </a:p>
        </p:txBody>
      </p:sp>
      <p:sp>
        <p:nvSpPr>
          <p:cNvPr id="19" name="References"/>
          <p:cNvSpPr txBox="1"/>
          <p:nvPr/>
        </p:nvSpPr>
        <p:spPr>
          <a:xfrm>
            <a:off x="14256000" y="20736000"/>
            <a:ext cx="5832000" cy="396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600" b="1" lang="fr-CH">
                <a:solidFill>
                  <a:schemeClr val="tx1"/>
                </a:solidFill>
              </a:rPr>
              <a:t>Références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Titre. Éditeur.]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[Nom, P. (année). Titre de l’article. Revue, 12(3), 45–67.]</a:t>
            </a:r>
          </a:p>
        </p:txBody>
      </p:sp>
      <p:sp>
        <p:nvSpPr>
          <p:cNvPr id="20" name="QR code"/>
          <p:cNvSpPr/>
          <p:nvPr/>
        </p:nvSpPr>
        <p:spPr>
          <a:xfrm>
            <a:off x="14256000" y="25200000"/>
            <a:ext cx="1728000" cy="172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solidFill>
                  <a:schemeClr val="tx2"/>
                </a:solidFill>
              </a:rPr>
              <a:t>QR</a:t>
            </a:r>
          </a:p>
        </p:txBody>
      </p:sp>
      <p:sp>
        <p:nvSpPr>
          <p:cNvPr id="21" name="Contact"/>
          <p:cNvSpPr txBox="1"/>
          <p:nvPr/>
        </p:nvSpPr>
        <p:spPr>
          <a:xfrm>
            <a:off x="16272000" y="25200000"/>
            <a:ext cx="3816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[Lien vers le rapport, la démo ou les données]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2000" b="1" lang="fr-CH">
                <a:solidFill>
                  <a:schemeClr val="tx1"/>
                </a:solidFill>
              </a:rPr>
              <a:t>[Prénom Nom] · [e-mail]</a:t>
            </a:r>
          </a:p>
        </p:txBody>
      </p:sp>
      <p:sp>
        <p:nvSpPr>
          <p:cNvPr id="22" name="Footer band"/>
          <p:cNvSpPr/>
          <p:nvPr/>
        </p:nvSpPr>
        <p:spPr>
          <a:xfrm>
            <a:off x="0" y="28800000"/>
            <a:ext cx="21384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ooter"/>
          <p:cNvSpPr txBox="1"/>
          <p:nvPr/>
        </p:nvSpPr>
        <p:spPr>
          <a:xfrm>
            <a:off x="1296000" y="29160000"/>
            <a:ext cx="18792000" cy="720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2000" b="0" lang="fr-CH">
                <a:solidFill>
                  <a:schemeClr val="tx2"/>
                </a:solidFill>
              </a:rPr>
              <a:t>[Événement] · [lieu] · [date]   ·   Format A1 portrait (594 × 841 mm) : imprimer à 100 %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